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222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76451" y="3426234"/>
            <a:ext cx="9335097" cy="157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7"/>
              </a:lnSpc>
              <a:spcBef>
                <a:spcPct val="0"/>
              </a:spcBef>
            </a:pPr>
            <a:r>
              <a:rPr lang="en-US" b="true" sz="9276" spc="204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AMUNDI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534556" y="8559921"/>
            <a:ext cx="7218888" cy="1046614"/>
            <a:chOff x="0" y="0"/>
            <a:chExt cx="9625183" cy="139548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625183" cy="1395485"/>
              <a:chOff x="0" y="0"/>
              <a:chExt cx="1274016" cy="18471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74016" cy="184716"/>
              </a:xfrm>
              <a:custGeom>
                <a:avLst/>
                <a:gdLst/>
                <a:ahLst/>
                <a:cxnLst/>
                <a:rect r="r" b="b" t="t" l="l"/>
                <a:pathLst>
                  <a:path h="184716" w="1274016">
                    <a:moveTo>
                      <a:pt x="1274016" y="53623"/>
                    </a:moveTo>
                    <a:lnTo>
                      <a:pt x="1274016" y="131093"/>
                    </a:lnTo>
                    <a:cubicBezTo>
                      <a:pt x="1274016" y="160708"/>
                      <a:pt x="1250008" y="184716"/>
                      <a:pt x="1220393" y="184716"/>
                    </a:cubicBezTo>
                    <a:lnTo>
                      <a:pt x="53623" y="184716"/>
                    </a:lnTo>
                    <a:cubicBezTo>
                      <a:pt x="24008" y="184716"/>
                      <a:pt x="0" y="160708"/>
                      <a:pt x="0" y="131093"/>
                    </a:cubicBezTo>
                    <a:lnTo>
                      <a:pt x="0" y="53623"/>
                    </a:lnTo>
                    <a:cubicBezTo>
                      <a:pt x="0" y="24008"/>
                      <a:pt x="24008" y="0"/>
                      <a:pt x="53623" y="0"/>
                    </a:cubicBezTo>
                    <a:lnTo>
                      <a:pt x="1220393" y="0"/>
                    </a:lnTo>
                    <a:cubicBezTo>
                      <a:pt x="1250008" y="0"/>
                      <a:pt x="1274016" y="24008"/>
                      <a:pt x="1274016" y="53623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6E0C6">
                      <a:alpha val="100000"/>
                    </a:srgbClr>
                  </a:gs>
                  <a:gs pos="100000">
                    <a:srgbClr val="D4D6CB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1274016" cy="2132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59295" y="204118"/>
              <a:ext cx="8822747" cy="10410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0"/>
                </a:lnSpc>
                <a:spcBef>
                  <a:spcPct val="0"/>
                </a:spcBef>
              </a:pPr>
              <a:r>
                <a:rPr lang="en-US" b="true" sz="2343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Karen RAKOTONDRASOA, Mayline SPECHT, Camille CHAPART, Dorine TURON</a:t>
              </a:r>
              <a:r>
                <a:rPr lang="en-US" b="true" sz="2343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 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48262" y="212530"/>
            <a:ext cx="4476451" cy="1036101"/>
          </a:xfrm>
          <a:custGeom>
            <a:avLst/>
            <a:gdLst/>
            <a:ahLst/>
            <a:cxnLst/>
            <a:rect r="r" b="b" t="t" l="l"/>
            <a:pathLst>
              <a:path h="1036101" w="4476451">
                <a:moveTo>
                  <a:pt x="0" y="0"/>
                </a:moveTo>
                <a:lnTo>
                  <a:pt x="4476452" y="0"/>
                </a:lnTo>
                <a:lnTo>
                  <a:pt x="4476452" y="1036101"/>
                </a:lnTo>
                <a:lnTo>
                  <a:pt x="0" y="1036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039" r="-268" b="-9635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7753" y="453499"/>
            <a:ext cx="6028017" cy="49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Financial Database Management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-4482483"/>
            <a:ext cx="18937663" cy="17233274"/>
          </a:xfrm>
          <a:custGeom>
            <a:avLst/>
            <a:gdLst/>
            <a:ahLst/>
            <a:cxnLst/>
            <a:rect r="r" b="b" t="t" l="l"/>
            <a:pathLst>
              <a:path h="17233274" w="18937663">
                <a:moveTo>
                  <a:pt x="0" y="0"/>
                </a:moveTo>
                <a:lnTo>
                  <a:pt x="18937663" y="0"/>
                </a:lnTo>
                <a:lnTo>
                  <a:pt x="18937663" y="17233274"/>
                </a:lnTo>
                <a:lnTo>
                  <a:pt x="0" y="17233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E0C6">
                <a:alpha val="100000"/>
              </a:srgbClr>
            </a:gs>
            <a:gs pos="100000">
              <a:srgbClr val="D4D6C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5695" y="-135555"/>
            <a:ext cx="6883733" cy="10422555"/>
            <a:chOff x="0" y="0"/>
            <a:chExt cx="934294" cy="14146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4294" cy="1414601"/>
            </a:xfrm>
            <a:custGeom>
              <a:avLst/>
              <a:gdLst/>
              <a:ahLst/>
              <a:cxnLst/>
              <a:rect r="r" b="b" t="t" l="l"/>
              <a:pathLst>
                <a:path h="1414601" w="934294">
                  <a:moveTo>
                    <a:pt x="0" y="0"/>
                  </a:moveTo>
                  <a:lnTo>
                    <a:pt x="934294" y="0"/>
                  </a:lnTo>
                  <a:lnTo>
                    <a:pt x="934294" y="1414601"/>
                  </a:lnTo>
                  <a:lnTo>
                    <a:pt x="0" y="1414601"/>
                  </a:lnTo>
                  <a:close/>
                </a:path>
              </a:pathLst>
            </a:custGeom>
            <a:blipFill>
              <a:blip r:embed="rId2"/>
              <a:stretch>
                <a:fillRect l="-50938" t="0" r="-5093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3721" y="421454"/>
            <a:ext cx="10758437" cy="125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b="true" sz="4897" spc="1077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AMUNDI</a:t>
            </a:r>
            <a:r>
              <a:rPr lang="en-US" b="true" sz="4897" spc="1077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&amp; ESG DATA CHALLENGES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33721" y="5584917"/>
            <a:ext cx="5023213" cy="3673383"/>
            <a:chOff x="0" y="0"/>
            <a:chExt cx="1322986" cy="967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2986" cy="967475"/>
            </a:xfrm>
            <a:custGeom>
              <a:avLst/>
              <a:gdLst/>
              <a:ahLst/>
              <a:cxnLst/>
              <a:rect r="r" b="b" t="t" l="l"/>
              <a:pathLst>
                <a:path h="967475" w="1322986">
                  <a:moveTo>
                    <a:pt x="78603" y="0"/>
                  </a:moveTo>
                  <a:lnTo>
                    <a:pt x="1244383" y="0"/>
                  </a:lnTo>
                  <a:cubicBezTo>
                    <a:pt x="1287794" y="0"/>
                    <a:pt x="1322986" y="35192"/>
                    <a:pt x="1322986" y="78603"/>
                  </a:cubicBezTo>
                  <a:lnTo>
                    <a:pt x="1322986" y="888873"/>
                  </a:lnTo>
                  <a:cubicBezTo>
                    <a:pt x="1322986" y="932284"/>
                    <a:pt x="1287794" y="967475"/>
                    <a:pt x="1244383" y="967475"/>
                  </a:cubicBezTo>
                  <a:lnTo>
                    <a:pt x="78603" y="967475"/>
                  </a:lnTo>
                  <a:cubicBezTo>
                    <a:pt x="35192" y="967475"/>
                    <a:pt x="0" y="932284"/>
                    <a:pt x="0" y="888873"/>
                  </a:cubicBezTo>
                  <a:lnTo>
                    <a:pt x="0" y="78603"/>
                  </a:lnTo>
                  <a:cubicBezTo>
                    <a:pt x="0" y="35192"/>
                    <a:pt x="35192" y="0"/>
                    <a:pt x="78603" y="0"/>
                  </a:cubicBezTo>
                  <a:close/>
                </a:path>
              </a:pathLst>
            </a:custGeom>
            <a:solidFill>
              <a:srgbClr val="DCBD9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22986" cy="1024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51617" y="5951622"/>
            <a:ext cx="7211970" cy="255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ESG</a:t>
            </a: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Data Challenges : </a:t>
            </a:r>
          </a:p>
          <a:p>
            <a:pPr algn="l" marL="626102" indent="-313051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Multiple sources</a:t>
            </a:r>
          </a:p>
          <a:p>
            <a:pPr algn="l" marL="626102" indent="-313051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Unstructured data</a:t>
            </a:r>
          </a:p>
          <a:p>
            <a:pPr algn="l" marL="626102" indent="-313051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Not standardized</a:t>
            </a:r>
          </a:p>
          <a:p>
            <a:pPr algn="l" marL="626102" indent="-313051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Different ESG scores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53992" y="2089916"/>
            <a:ext cx="8500799" cy="2471852"/>
            <a:chOff x="0" y="0"/>
            <a:chExt cx="2238893" cy="651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8894" cy="651023"/>
            </a:xfrm>
            <a:custGeom>
              <a:avLst/>
              <a:gdLst/>
              <a:ahLst/>
              <a:cxnLst/>
              <a:rect r="r" b="b" t="t" l="l"/>
              <a:pathLst>
                <a:path h="651023" w="2238894">
                  <a:moveTo>
                    <a:pt x="46447" y="0"/>
                  </a:moveTo>
                  <a:lnTo>
                    <a:pt x="2192446" y="0"/>
                  </a:lnTo>
                  <a:cubicBezTo>
                    <a:pt x="2204765" y="0"/>
                    <a:pt x="2216579" y="4894"/>
                    <a:pt x="2225290" y="13604"/>
                  </a:cubicBezTo>
                  <a:cubicBezTo>
                    <a:pt x="2234000" y="22315"/>
                    <a:pt x="2238894" y="34129"/>
                    <a:pt x="2238894" y="46447"/>
                  </a:cubicBezTo>
                  <a:lnTo>
                    <a:pt x="2238894" y="604576"/>
                  </a:lnTo>
                  <a:cubicBezTo>
                    <a:pt x="2238894" y="630228"/>
                    <a:pt x="2218099" y="651023"/>
                    <a:pt x="2192446" y="651023"/>
                  </a:cubicBezTo>
                  <a:lnTo>
                    <a:pt x="46447" y="651023"/>
                  </a:lnTo>
                  <a:cubicBezTo>
                    <a:pt x="34129" y="651023"/>
                    <a:pt x="22315" y="646129"/>
                    <a:pt x="13604" y="637419"/>
                  </a:cubicBezTo>
                  <a:cubicBezTo>
                    <a:pt x="4894" y="628708"/>
                    <a:pt x="0" y="616894"/>
                    <a:pt x="0" y="604576"/>
                  </a:cubicBezTo>
                  <a:lnTo>
                    <a:pt x="0" y="46447"/>
                  </a:lnTo>
                  <a:cubicBezTo>
                    <a:pt x="0" y="34129"/>
                    <a:pt x="4894" y="22315"/>
                    <a:pt x="13604" y="13604"/>
                  </a:cubicBezTo>
                  <a:cubicBezTo>
                    <a:pt x="22315" y="4894"/>
                    <a:pt x="34129" y="0"/>
                    <a:pt x="46447" y="0"/>
                  </a:cubicBezTo>
                  <a:close/>
                </a:path>
              </a:pathLst>
            </a:custGeom>
            <a:solidFill>
              <a:srgbClr val="DCBD9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238893" cy="708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81878" y="2187408"/>
            <a:ext cx="8910279" cy="203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Amundi : 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1 asset manager in Europe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€2,000+ billion AUM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Clients: institutions / companies / individuals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612939" y="5584917"/>
            <a:ext cx="6088082" cy="3615913"/>
            <a:chOff x="0" y="0"/>
            <a:chExt cx="1603445" cy="9523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03445" cy="952339"/>
            </a:xfrm>
            <a:custGeom>
              <a:avLst/>
              <a:gdLst/>
              <a:ahLst/>
              <a:cxnLst/>
              <a:rect r="r" b="b" t="t" l="l"/>
              <a:pathLst>
                <a:path h="952339" w="1603445">
                  <a:moveTo>
                    <a:pt x="64854" y="0"/>
                  </a:moveTo>
                  <a:lnTo>
                    <a:pt x="1538591" y="0"/>
                  </a:lnTo>
                  <a:cubicBezTo>
                    <a:pt x="1555792" y="0"/>
                    <a:pt x="1572288" y="6833"/>
                    <a:pt x="1584450" y="18995"/>
                  </a:cubicBezTo>
                  <a:cubicBezTo>
                    <a:pt x="1596613" y="31158"/>
                    <a:pt x="1603445" y="47654"/>
                    <a:pt x="1603445" y="64854"/>
                  </a:cubicBezTo>
                  <a:lnTo>
                    <a:pt x="1603445" y="887485"/>
                  </a:lnTo>
                  <a:cubicBezTo>
                    <a:pt x="1603445" y="923303"/>
                    <a:pt x="1574409" y="952339"/>
                    <a:pt x="1538591" y="952339"/>
                  </a:cubicBezTo>
                  <a:lnTo>
                    <a:pt x="64854" y="952339"/>
                  </a:lnTo>
                  <a:cubicBezTo>
                    <a:pt x="47654" y="952339"/>
                    <a:pt x="31158" y="945506"/>
                    <a:pt x="18995" y="933344"/>
                  </a:cubicBezTo>
                  <a:cubicBezTo>
                    <a:pt x="6833" y="921181"/>
                    <a:pt x="0" y="904685"/>
                    <a:pt x="0" y="887485"/>
                  </a:cubicBezTo>
                  <a:lnTo>
                    <a:pt x="0" y="64854"/>
                  </a:lnTo>
                  <a:cubicBezTo>
                    <a:pt x="0" y="47654"/>
                    <a:pt x="6833" y="31158"/>
                    <a:pt x="18995" y="18995"/>
                  </a:cubicBezTo>
                  <a:cubicBezTo>
                    <a:pt x="31158" y="6833"/>
                    <a:pt x="47654" y="0"/>
                    <a:pt x="64854" y="0"/>
                  </a:cubicBezTo>
                  <a:close/>
                </a:path>
              </a:pathLst>
            </a:custGeom>
            <a:solidFill>
              <a:srgbClr val="DCBD9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603445" cy="1009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118864" y="5747450"/>
            <a:ext cx="7211970" cy="35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Key Risks : </a:t>
            </a:r>
          </a:p>
          <a:p>
            <a:pPr algn="just" marL="626102" indent="-313051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Greenwashing</a:t>
            </a:r>
          </a:p>
          <a:p>
            <a:pPr algn="just" marL="626102" indent="-313051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Reg</a:t>
            </a: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ulatory risk</a:t>
            </a:r>
          </a:p>
          <a:p>
            <a:pPr algn="just" marL="1252205" indent="-417402" lvl="2">
              <a:lnSpc>
                <a:spcPts val="4059"/>
              </a:lnSpc>
              <a:spcBef>
                <a:spcPct val="0"/>
              </a:spcBef>
              <a:buFont typeface="Arial"/>
              <a:buChar char="⚬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SFDR</a:t>
            </a:r>
          </a:p>
          <a:p>
            <a:pPr algn="just" marL="1252205" indent="-417402" lvl="2">
              <a:lnSpc>
                <a:spcPts val="4059"/>
              </a:lnSpc>
              <a:spcBef>
                <a:spcPct val="0"/>
              </a:spcBef>
              <a:buFont typeface="Arial"/>
              <a:buChar char="⚬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</a:t>
            </a: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U Taxonomy</a:t>
            </a:r>
          </a:p>
          <a:p>
            <a:pPr algn="just" marL="626102" indent="-313051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i="true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Operational risk (data silos)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E0C6">
                <a:alpha val="100000"/>
              </a:srgbClr>
            </a:gs>
            <a:gs pos="100000">
              <a:srgbClr val="D4D6C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5695" y="-135555"/>
            <a:ext cx="6883733" cy="10422555"/>
            <a:chOff x="0" y="0"/>
            <a:chExt cx="934294" cy="14146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4294" cy="1414601"/>
            </a:xfrm>
            <a:custGeom>
              <a:avLst/>
              <a:gdLst/>
              <a:ahLst/>
              <a:cxnLst/>
              <a:rect r="r" b="b" t="t" l="l"/>
              <a:pathLst>
                <a:path h="1414601" w="934294">
                  <a:moveTo>
                    <a:pt x="0" y="0"/>
                  </a:moveTo>
                  <a:lnTo>
                    <a:pt x="934294" y="0"/>
                  </a:lnTo>
                  <a:lnTo>
                    <a:pt x="934294" y="1414601"/>
                  </a:lnTo>
                  <a:lnTo>
                    <a:pt x="0" y="1414601"/>
                  </a:lnTo>
                  <a:close/>
                </a:path>
              </a:pathLst>
            </a:custGeom>
            <a:blipFill>
              <a:blip r:embed="rId2"/>
              <a:stretch>
                <a:fillRect l="-6709" t="0" r="-670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3407" y="2060885"/>
            <a:ext cx="11752279" cy="5607208"/>
            <a:chOff x="0" y="0"/>
            <a:chExt cx="15669705" cy="747627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5669705" cy="7476277"/>
              <a:chOff x="0" y="0"/>
              <a:chExt cx="3095250" cy="14767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095250" cy="1476796"/>
              </a:xfrm>
              <a:custGeom>
                <a:avLst/>
                <a:gdLst/>
                <a:ahLst/>
                <a:cxnLst/>
                <a:rect r="r" b="b" t="t" l="l"/>
                <a:pathLst>
                  <a:path h="1476796" w="3095250">
                    <a:moveTo>
                      <a:pt x="33597" y="0"/>
                    </a:moveTo>
                    <a:lnTo>
                      <a:pt x="3061654" y="0"/>
                    </a:lnTo>
                    <a:cubicBezTo>
                      <a:pt x="3080209" y="0"/>
                      <a:pt x="3095250" y="15042"/>
                      <a:pt x="3095250" y="33597"/>
                    </a:cubicBezTo>
                    <a:lnTo>
                      <a:pt x="3095250" y="1443199"/>
                    </a:lnTo>
                    <a:cubicBezTo>
                      <a:pt x="3095250" y="1461754"/>
                      <a:pt x="3080209" y="1476796"/>
                      <a:pt x="3061654" y="1476796"/>
                    </a:cubicBezTo>
                    <a:lnTo>
                      <a:pt x="33597" y="1476796"/>
                    </a:lnTo>
                    <a:cubicBezTo>
                      <a:pt x="15042" y="1476796"/>
                      <a:pt x="0" y="1461754"/>
                      <a:pt x="0" y="1443199"/>
                    </a:cubicBezTo>
                    <a:lnTo>
                      <a:pt x="0" y="33597"/>
                    </a:lnTo>
                    <a:cubicBezTo>
                      <a:pt x="0" y="15042"/>
                      <a:pt x="15042" y="0"/>
                      <a:pt x="33597" y="0"/>
                    </a:cubicBezTo>
                    <a:close/>
                  </a:path>
                </a:pathLst>
              </a:custGeom>
              <a:solidFill>
                <a:srgbClr val="DCBD9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3095250" cy="15339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62562" y="443345"/>
              <a:ext cx="14344582" cy="6655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7"/>
                </a:lnSpc>
              </a:pPr>
              <a:r>
                <a:rPr lang="en-US" b="true" sz="5597" spc="218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How can an investment fund like Amundi</a:t>
              </a:r>
              <a:r>
                <a:rPr lang="en-US" b="true" sz="5597" spc="218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guarantee the reliability, integrity, and traceability of ESG data using a robust database system and respecting regulatory requirements?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E0C6">
                <a:alpha val="100000"/>
              </a:srgbClr>
            </a:gs>
            <a:gs pos="100000">
              <a:srgbClr val="D4D6C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0571" y="9653448"/>
            <a:ext cx="535300" cy="535300"/>
          </a:xfrm>
          <a:custGeom>
            <a:avLst/>
            <a:gdLst/>
            <a:ahLst/>
            <a:cxnLst/>
            <a:rect r="r" b="b" t="t" l="l"/>
            <a:pathLst>
              <a:path h="535300" w="535300">
                <a:moveTo>
                  <a:pt x="0" y="0"/>
                </a:moveTo>
                <a:lnTo>
                  <a:pt x="535300" y="0"/>
                </a:lnTo>
                <a:lnTo>
                  <a:pt x="535300" y="535300"/>
                </a:lnTo>
                <a:lnTo>
                  <a:pt x="0" y="53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1852" y="4268003"/>
            <a:ext cx="3469566" cy="1431985"/>
            <a:chOff x="0" y="0"/>
            <a:chExt cx="4626088" cy="19093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26088" cy="1909313"/>
            </a:xfrm>
            <a:custGeom>
              <a:avLst/>
              <a:gdLst/>
              <a:ahLst/>
              <a:cxnLst/>
              <a:rect r="r" b="b" t="t" l="l"/>
              <a:pathLst>
                <a:path h="1909313" w="4626088">
                  <a:moveTo>
                    <a:pt x="0" y="0"/>
                  </a:moveTo>
                  <a:lnTo>
                    <a:pt x="4626088" y="0"/>
                  </a:lnTo>
                  <a:lnTo>
                    <a:pt x="4626088" y="1909313"/>
                  </a:lnTo>
                  <a:lnTo>
                    <a:pt x="0" y="1909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555261" y="571716"/>
              <a:ext cx="3515567" cy="663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5"/>
                </a:lnSpc>
                <a:spcBef>
                  <a:spcPct val="0"/>
                </a:spcBef>
              </a:pPr>
              <a:r>
                <a:rPr lang="en-US" sz="301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SQL Database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70299" y="4268003"/>
            <a:ext cx="3926581" cy="1382834"/>
            <a:chOff x="0" y="0"/>
            <a:chExt cx="5235441" cy="18437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4068" y="0"/>
              <a:ext cx="4467306" cy="1843779"/>
            </a:xfrm>
            <a:custGeom>
              <a:avLst/>
              <a:gdLst/>
              <a:ahLst/>
              <a:cxnLst/>
              <a:rect r="r" b="b" t="t" l="l"/>
              <a:pathLst>
                <a:path h="1843779" w="4467306">
                  <a:moveTo>
                    <a:pt x="0" y="0"/>
                  </a:moveTo>
                  <a:lnTo>
                    <a:pt x="4467306" y="0"/>
                  </a:lnTo>
                  <a:lnTo>
                    <a:pt x="4467306" y="1843779"/>
                  </a:lnTo>
                  <a:lnTo>
                    <a:pt x="0" y="1843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273261"/>
              <a:ext cx="5235441" cy="1191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0"/>
                </a:lnSpc>
              </a:pPr>
              <a:r>
                <a:rPr lang="en-US" sz="29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Data Lake </a:t>
              </a:r>
            </a:p>
            <a:p>
              <a:pPr algn="ctr">
                <a:lnSpc>
                  <a:spcPts val="3230"/>
                </a:lnSpc>
                <a:spcBef>
                  <a:spcPct val="0"/>
                </a:spcBef>
              </a:pPr>
              <a:r>
                <a:rPr lang="en-US" sz="23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(use NoSQL Database)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05760" y="4317153"/>
            <a:ext cx="3469566" cy="1433961"/>
            <a:chOff x="0" y="0"/>
            <a:chExt cx="4626088" cy="19119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26088" cy="1911949"/>
            </a:xfrm>
            <a:custGeom>
              <a:avLst/>
              <a:gdLst/>
              <a:ahLst/>
              <a:cxnLst/>
              <a:rect r="r" b="b" t="t" l="l"/>
              <a:pathLst>
                <a:path h="1911949" w="4626088">
                  <a:moveTo>
                    <a:pt x="0" y="0"/>
                  </a:moveTo>
                  <a:lnTo>
                    <a:pt x="4626088" y="0"/>
                  </a:lnTo>
                  <a:lnTo>
                    <a:pt x="4626088" y="1911949"/>
                  </a:lnTo>
                  <a:lnTo>
                    <a:pt x="0" y="1911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69" t="0" r="-6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594210"/>
              <a:ext cx="4626088" cy="666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15"/>
                </a:lnSpc>
                <a:spcBef>
                  <a:spcPct val="0"/>
                </a:spcBef>
              </a:pPr>
              <a:r>
                <a:rPr lang="en-US" sz="301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Data Warehouse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9895" y="7675215"/>
            <a:ext cx="3049124" cy="1260194"/>
            <a:chOff x="0" y="0"/>
            <a:chExt cx="4065498" cy="16802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5498" cy="1680258"/>
            </a:xfrm>
            <a:custGeom>
              <a:avLst/>
              <a:gdLst/>
              <a:ahLst/>
              <a:cxnLst/>
              <a:rect r="r" b="b" t="t" l="l"/>
              <a:pathLst>
                <a:path h="1680258" w="4065498">
                  <a:moveTo>
                    <a:pt x="0" y="0"/>
                  </a:moveTo>
                  <a:lnTo>
                    <a:pt x="4065498" y="0"/>
                  </a:lnTo>
                  <a:lnTo>
                    <a:pt x="4065498" y="1680258"/>
                  </a:lnTo>
                  <a:lnTo>
                    <a:pt x="0" y="1680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69" t="0" r="-6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487974" y="495510"/>
              <a:ext cx="3089549" cy="592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4"/>
                </a:lnSpc>
                <a:spcBef>
                  <a:spcPct val="0"/>
                </a:spcBef>
              </a:pPr>
              <a:r>
                <a:rPr lang="en-US" sz="2646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Data sources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91336" y="7711585"/>
            <a:ext cx="2877091" cy="1187454"/>
            <a:chOff x="0" y="0"/>
            <a:chExt cx="3836121" cy="1583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36121" cy="1583272"/>
            </a:xfrm>
            <a:custGeom>
              <a:avLst/>
              <a:gdLst/>
              <a:ahLst/>
              <a:cxnLst/>
              <a:rect r="r" b="b" t="t" l="l"/>
              <a:pathLst>
                <a:path h="1583272" w="3836121">
                  <a:moveTo>
                    <a:pt x="0" y="0"/>
                  </a:moveTo>
                  <a:lnTo>
                    <a:pt x="3836121" y="0"/>
                  </a:lnTo>
                  <a:lnTo>
                    <a:pt x="3836121" y="1583272"/>
                  </a:lnTo>
                  <a:lnTo>
                    <a:pt x="0" y="158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460443" y="492507"/>
              <a:ext cx="2915236" cy="550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5"/>
                </a:lnSpc>
                <a:spcBef>
                  <a:spcPct val="0"/>
                </a:spcBef>
              </a:pPr>
              <a:r>
                <a:rPr lang="en-US" sz="2496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Data Ingestion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05447" y="7589183"/>
            <a:ext cx="3170120" cy="1797565"/>
            <a:chOff x="0" y="0"/>
            <a:chExt cx="4226826" cy="23967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26826" cy="2396753"/>
            </a:xfrm>
            <a:custGeom>
              <a:avLst/>
              <a:gdLst/>
              <a:ahLst/>
              <a:cxnLst/>
              <a:rect r="r" b="b" t="t" l="l"/>
              <a:pathLst>
                <a:path h="2396753" w="4226826">
                  <a:moveTo>
                    <a:pt x="0" y="0"/>
                  </a:moveTo>
                  <a:lnTo>
                    <a:pt x="4226826" y="0"/>
                  </a:lnTo>
                  <a:lnTo>
                    <a:pt x="4226826" y="2396753"/>
                  </a:lnTo>
                  <a:lnTo>
                    <a:pt x="0" y="2396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8693" t="0" r="-1869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547519"/>
              <a:ext cx="4226826" cy="1254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1"/>
                </a:lnSpc>
              </a:pPr>
              <a:r>
                <a:rPr lang="en-US" sz="275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Data Warehouse</a:t>
              </a:r>
            </a:p>
            <a:p>
              <a:pPr algn="ctr">
                <a:lnSpc>
                  <a:spcPts val="3851"/>
                </a:lnSpc>
                <a:spcBef>
                  <a:spcPct val="0"/>
                </a:spcBef>
              </a:pPr>
              <a:r>
                <a:rPr lang="en-US" sz="275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(Analysis) + SQL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70744" y="7589183"/>
            <a:ext cx="2949521" cy="1669117"/>
            <a:chOff x="0" y="0"/>
            <a:chExt cx="3932695" cy="22254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32695" cy="2225490"/>
            </a:xfrm>
            <a:custGeom>
              <a:avLst/>
              <a:gdLst/>
              <a:ahLst/>
              <a:cxnLst/>
              <a:rect r="r" b="b" t="t" l="l"/>
              <a:pathLst>
                <a:path h="2225490" w="3932695">
                  <a:moveTo>
                    <a:pt x="0" y="0"/>
                  </a:moveTo>
                  <a:lnTo>
                    <a:pt x="3932695" y="0"/>
                  </a:lnTo>
                  <a:lnTo>
                    <a:pt x="3932695" y="2225490"/>
                  </a:lnTo>
                  <a:lnTo>
                    <a:pt x="0" y="2225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8555" t="0" r="-1855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472034" y="506105"/>
              <a:ext cx="2988627" cy="1165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83"/>
                </a:lnSpc>
              </a:pPr>
              <a:r>
                <a:rPr lang="en-US" sz="255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Data Lake</a:t>
              </a:r>
            </a:p>
            <a:p>
              <a:pPr algn="ctr">
                <a:lnSpc>
                  <a:spcPts val="3583"/>
                </a:lnSpc>
                <a:spcBef>
                  <a:spcPct val="0"/>
                </a:spcBef>
              </a:pPr>
              <a:r>
                <a:rPr lang="en-US" sz="255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(raw ESG Data)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50142" y="7782445"/>
            <a:ext cx="3350480" cy="1382834"/>
            <a:chOff x="0" y="0"/>
            <a:chExt cx="4467306" cy="18437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67306" cy="1843779"/>
            </a:xfrm>
            <a:custGeom>
              <a:avLst/>
              <a:gdLst/>
              <a:ahLst/>
              <a:cxnLst/>
              <a:rect r="r" b="b" t="t" l="l"/>
              <a:pathLst>
                <a:path h="1843779" w="4467306">
                  <a:moveTo>
                    <a:pt x="0" y="0"/>
                  </a:moveTo>
                  <a:lnTo>
                    <a:pt x="4467306" y="0"/>
                  </a:lnTo>
                  <a:lnTo>
                    <a:pt x="4467306" y="1843779"/>
                  </a:lnTo>
                  <a:lnTo>
                    <a:pt x="0" y="1843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536203" y="581379"/>
              <a:ext cx="3394901" cy="633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70"/>
                </a:lnSpc>
                <a:spcBef>
                  <a:spcPct val="0"/>
                </a:spcBef>
              </a:pPr>
              <a:r>
                <a:rPr lang="en-US" sz="29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Data cleaning</a:t>
              </a:r>
            </a:p>
          </p:txBody>
        </p:sp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74719" y="8027412"/>
            <a:ext cx="1312192" cy="555800"/>
          </a:xfrm>
          <a:prstGeom prst="rect">
            <a:avLst/>
          </a:prstGeom>
        </p:spPr>
      </p:pic>
      <p:sp>
        <p:nvSpPr>
          <p:cNvPr name="Freeform 28" id="28"/>
          <p:cNvSpPr/>
          <p:nvPr/>
        </p:nvSpPr>
        <p:spPr>
          <a:xfrm flipH="false" flipV="false" rot="0">
            <a:off x="-1246299" y="-2506728"/>
            <a:ext cx="20780599" cy="4099089"/>
          </a:xfrm>
          <a:custGeom>
            <a:avLst/>
            <a:gdLst/>
            <a:ahLst/>
            <a:cxnLst/>
            <a:rect r="r" b="b" t="t" l="l"/>
            <a:pathLst>
              <a:path h="4099089" w="20780599">
                <a:moveTo>
                  <a:pt x="0" y="0"/>
                </a:moveTo>
                <a:lnTo>
                  <a:pt x="20780598" y="0"/>
                </a:lnTo>
                <a:lnTo>
                  <a:pt x="20780598" y="4099089"/>
                </a:lnTo>
                <a:lnTo>
                  <a:pt x="0" y="40990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480978" y="8098273"/>
            <a:ext cx="1312192" cy="555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84296" y="8145842"/>
            <a:ext cx="1312192" cy="555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731491" y="8266823"/>
            <a:ext cx="1312192" cy="555800"/>
          </a:xfrm>
          <a:prstGeom prst="rect">
            <a:avLst/>
          </a:prstGeom>
        </p:spPr>
      </p:pic>
      <p:sp>
        <p:nvSpPr>
          <p:cNvPr name="Freeform 32" id="32"/>
          <p:cNvSpPr/>
          <p:nvPr/>
        </p:nvSpPr>
        <p:spPr>
          <a:xfrm flipH="false" flipV="false" rot="0">
            <a:off x="1985308" y="3323247"/>
            <a:ext cx="804431" cy="804431"/>
          </a:xfrm>
          <a:custGeom>
            <a:avLst/>
            <a:gdLst/>
            <a:ahLst/>
            <a:cxnLst/>
            <a:rect r="r" b="b" t="t" l="l"/>
            <a:pathLst>
              <a:path h="804431" w="804431">
                <a:moveTo>
                  <a:pt x="0" y="0"/>
                </a:moveTo>
                <a:lnTo>
                  <a:pt x="804431" y="0"/>
                </a:lnTo>
                <a:lnTo>
                  <a:pt x="804431" y="804430"/>
                </a:lnTo>
                <a:lnTo>
                  <a:pt x="0" y="8044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631374" y="3323247"/>
            <a:ext cx="804431" cy="804431"/>
          </a:xfrm>
          <a:custGeom>
            <a:avLst/>
            <a:gdLst/>
            <a:ahLst/>
            <a:cxnLst/>
            <a:rect r="r" b="b" t="t" l="l"/>
            <a:pathLst>
              <a:path h="804431" w="804431">
                <a:moveTo>
                  <a:pt x="0" y="0"/>
                </a:moveTo>
                <a:lnTo>
                  <a:pt x="804430" y="0"/>
                </a:lnTo>
                <a:lnTo>
                  <a:pt x="804430" y="804430"/>
                </a:lnTo>
                <a:lnTo>
                  <a:pt x="0" y="8044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339837" y="3323247"/>
            <a:ext cx="880428" cy="880428"/>
          </a:xfrm>
          <a:custGeom>
            <a:avLst/>
            <a:gdLst/>
            <a:ahLst/>
            <a:cxnLst/>
            <a:rect r="r" b="b" t="t" l="l"/>
            <a:pathLst>
              <a:path h="880428" w="880428">
                <a:moveTo>
                  <a:pt x="0" y="0"/>
                </a:moveTo>
                <a:lnTo>
                  <a:pt x="880429" y="0"/>
                </a:lnTo>
                <a:lnTo>
                  <a:pt x="880429" y="880428"/>
                </a:lnTo>
                <a:lnTo>
                  <a:pt x="0" y="8804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198312" y="3118751"/>
            <a:ext cx="4378549" cy="3203864"/>
          </a:xfrm>
          <a:custGeom>
            <a:avLst/>
            <a:gdLst/>
            <a:ahLst/>
            <a:cxnLst/>
            <a:rect r="r" b="b" t="t" l="l"/>
            <a:pathLst>
              <a:path h="3203864" w="4378549">
                <a:moveTo>
                  <a:pt x="0" y="0"/>
                </a:moveTo>
                <a:lnTo>
                  <a:pt x="4378550" y="0"/>
                </a:lnTo>
                <a:lnTo>
                  <a:pt x="4378550" y="3203864"/>
                </a:lnTo>
                <a:lnTo>
                  <a:pt x="0" y="32038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7356" r="0" b="-29308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941501" y="2819172"/>
            <a:ext cx="5317799" cy="4190189"/>
          </a:xfrm>
          <a:custGeom>
            <a:avLst/>
            <a:gdLst/>
            <a:ahLst/>
            <a:cxnLst/>
            <a:rect r="r" b="b" t="t" l="l"/>
            <a:pathLst>
              <a:path h="4190189" w="5317799">
                <a:moveTo>
                  <a:pt x="0" y="0"/>
                </a:moveTo>
                <a:lnTo>
                  <a:pt x="5317799" y="0"/>
                </a:lnTo>
                <a:lnTo>
                  <a:pt x="5317799" y="4190189"/>
                </a:lnTo>
                <a:lnTo>
                  <a:pt x="0" y="4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49657" t="-12057" r="-44879" b="-6449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87429" y="362643"/>
            <a:ext cx="16513141" cy="84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7"/>
              </a:lnSpc>
            </a:pPr>
            <a:r>
              <a:rPr lang="en-US" sz="6337" spc="13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DATABASE MANAGEMENT SYSTEM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28645" y="2333359"/>
            <a:ext cx="8558493" cy="60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7"/>
              </a:lnSpc>
            </a:pPr>
            <a:r>
              <a:rPr lang="en-US" sz="4537" spc="99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ARCHITECTURE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084068" y="6408340"/>
            <a:ext cx="5899043" cy="60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7"/>
              </a:lnSpc>
            </a:pPr>
            <a:r>
              <a:rPr lang="en-US" sz="4537" spc="99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FLOW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E0C6">
                <a:alpha val="100000"/>
              </a:srgbClr>
            </a:gs>
            <a:gs pos="100000">
              <a:srgbClr val="D4D6C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5258" y="1033999"/>
            <a:ext cx="6765363" cy="7126767"/>
            <a:chOff x="0" y="0"/>
            <a:chExt cx="2145807" cy="2260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807" cy="2260435"/>
            </a:xfrm>
            <a:custGeom>
              <a:avLst/>
              <a:gdLst/>
              <a:ahLst/>
              <a:cxnLst/>
              <a:rect r="r" b="b" t="t" l="l"/>
              <a:pathLst>
                <a:path h="2260435" w="2145807">
                  <a:moveTo>
                    <a:pt x="0" y="0"/>
                  </a:moveTo>
                  <a:lnTo>
                    <a:pt x="2145807" y="0"/>
                  </a:lnTo>
                  <a:lnTo>
                    <a:pt x="2145807" y="2260435"/>
                  </a:lnTo>
                  <a:lnTo>
                    <a:pt x="0" y="2260435"/>
                  </a:lnTo>
                  <a:close/>
                </a:path>
              </a:pathLst>
            </a:custGeom>
            <a:blipFill>
              <a:blip r:embed="rId2"/>
              <a:stretch>
                <a:fillRect l="-12148" t="0" r="-8850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56484" y="212789"/>
            <a:ext cx="13820972" cy="1642421"/>
          </a:xfrm>
          <a:custGeom>
            <a:avLst/>
            <a:gdLst/>
            <a:ahLst/>
            <a:cxnLst/>
            <a:rect r="r" b="b" t="t" l="l"/>
            <a:pathLst>
              <a:path h="1642421" w="13820972">
                <a:moveTo>
                  <a:pt x="0" y="0"/>
                </a:moveTo>
                <a:lnTo>
                  <a:pt x="13820972" y="0"/>
                </a:lnTo>
                <a:lnTo>
                  <a:pt x="13820972" y="1642421"/>
                </a:lnTo>
                <a:lnTo>
                  <a:pt x="0" y="1642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28256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56484" y="7505497"/>
            <a:ext cx="2331122" cy="2331122"/>
          </a:xfrm>
          <a:custGeom>
            <a:avLst/>
            <a:gdLst/>
            <a:ahLst/>
            <a:cxnLst/>
            <a:rect r="r" b="b" t="t" l="l"/>
            <a:pathLst>
              <a:path h="2331122" w="2331122">
                <a:moveTo>
                  <a:pt x="0" y="0"/>
                </a:moveTo>
                <a:lnTo>
                  <a:pt x="2331121" y="0"/>
                </a:lnTo>
                <a:lnTo>
                  <a:pt x="2331121" y="2331122"/>
                </a:lnTo>
                <a:lnTo>
                  <a:pt x="0" y="2331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89261" y="7331680"/>
            <a:ext cx="2678756" cy="2678756"/>
          </a:xfrm>
          <a:custGeom>
            <a:avLst/>
            <a:gdLst/>
            <a:ahLst/>
            <a:cxnLst/>
            <a:rect r="r" b="b" t="t" l="l"/>
            <a:pathLst>
              <a:path h="2678756" w="2678756">
                <a:moveTo>
                  <a:pt x="0" y="0"/>
                </a:moveTo>
                <a:lnTo>
                  <a:pt x="2678755" y="0"/>
                </a:lnTo>
                <a:lnTo>
                  <a:pt x="2678755" y="2678756"/>
                </a:lnTo>
                <a:lnTo>
                  <a:pt x="0" y="2678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9037" y="754162"/>
            <a:ext cx="12946457" cy="64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854" spc="106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REGULATIONS ON AMUNDI’S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9864" y="2391872"/>
            <a:ext cx="11070054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Owned by Crédit Agricole (69.2%) : BCBS 239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405" y="3396831"/>
            <a:ext cx="11249513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Objective : to show that architecture meets strict regulatory requirements in Amundi’s data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E0C6">
                <a:alpha val="100000"/>
              </a:srgbClr>
            </a:gs>
            <a:gs pos="100000">
              <a:srgbClr val="D4D6C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77456" y="2469479"/>
            <a:ext cx="3710544" cy="3908760"/>
            <a:chOff x="0" y="0"/>
            <a:chExt cx="2145807" cy="2260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807" cy="2260435"/>
            </a:xfrm>
            <a:custGeom>
              <a:avLst/>
              <a:gdLst/>
              <a:ahLst/>
              <a:cxnLst/>
              <a:rect r="r" b="b" t="t" l="l"/>
              <a:pathLst>
                <a:path h="2260435" w="2145807">
                  <a:moveTo>
                    <a:pt x="0" y="0"/>
                  </a:moveTo>
                  <a:lnTo>
                    <a:pt x="2145807" y="0"/>
                  </a:lnTo>
                  <a:lnTo>
                    <a:pt x="2145807" y="2260435"/>
                  </a:lnTo>
                  <a:lnTo>
                    <a:pt x="0" y="2260435"/>
                  </a:lnTo>
                  <a:close/>
                </a:path>
              </a:pathLst>
            </a:custGeom>
            <a:blipFill>
              <a:blip r:embed="rId2"/>
              <a:stretch>
                <a:fillRect l="-29055" t="0" r="-2905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821860" y="2469479"/>
            <a:ext cx="11690220" cy="7043357"/>
          </a:xfrm>
          <a:custGeom>
            <a:avLst/>
            <a:gdLst/>
            <a:ahLst/>
            <a:cxnLst/>
            <a:rect r="r" b="b" t="t" l="l"/>
            <a:pathLst>
              <a:path h="7043357" w="11690220">
                <a:moveTo>
                  <a:pt x="0" y="0"/>
                </a:moveTo>
                <a:lnTo>
                  <a:pt x="11690220" y="0"/>
                </a:lnTo>
                <a:lnTo>
                  <a:pt x="11690220" y="7043358"/>
                </a:lnTo>
                <a:lnTo>
                  <a:pt x="0" y="7043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6484" y="212789"/>
            <a:ext cx="13820972" cy="1642421"/>
          </a:xfrm>
          <a:custGeom>
            <a:avLst/>
            <a:gdLst/>
            <a:ahLst/>
            <a:cxnLst/>
            <a:rect r="r" b="b" t="t" l="l"/>
            <a:pathLst>
              <a:path h="1642421" w="13820972">
                <a:moveTo>
                  <a:pt x="0" y="0"/>
                </a:moveTo>
                <a:lnTo>
                  <a:pt x="13820972" y="0"/>
                </a:lnTo>
                <a:lnTo>
                  <a:pt x="13820972" y="1642421"/>
                </a:lnTo>
                <a:lnTo>
                  <a:pt x="0" y="1642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28256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259037" y="754162"/>
            <a:ext cx="12946457" cy="64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854" spc="106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REGULATIONS ON AMUNDI’S DATA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E0C6">
                <a:alpha val="100000"/>
              </a:srgbClr>
            </a:gs>
            <a:gs pos="100000">
              <a:srgbClr val="D4D6C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27693" y="684524"/>
            <a:ext cx="8060307" cy="177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1"/>
              </a:lnSpc>
            </a:pPr>
            <a:r>
              <a:rPr lang="en-US" sz="6871" spc="1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IMPROVMENT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56393" y="3727030"/>
            <a:ext cx="6002907" cy="478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TECHNICAL SIDE 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Time series data base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graph data base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Automatic data quality checks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REGULATORY SIDE 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follow all the DORA rules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keep a better history of all changes made to the data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Better documentation and better traceability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59298"/>
            <a:ext cx="10227693" cy="10227702"/>
            <a:chOff x="0" y="0"/>
            <a:chExt cx="5914673" cy="59146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14673" cy="5914678"/>
            </a:xfrm>
            <a:custGeom>
              <a:avLst/>
              <a:gdLst/>
              <a:ahLst/>
              <a:cxnLst/>
              <a:rect r="r" b="b" t="t" l="l"/>
              <a:pathLst>
                <a:path h="5914678" w="5914673">
                  <a:moveTo>
                    <a:pt x="0" y="0"/>
                  </a:moveTo>
                  <a:lnTo>
                    <a:pt x="5914673" y="0"/>
                  </a:lnTo>
                  <a:lnTo>
                    <a:pt x="5914673" y="5914678"/>
                  </a:lnTo>
                  <a:lnTo>
                    <a:pt x="0" y="5914678"/>
                  </a:ln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E0C6">
                <a:alpha val="100000"/>
              </a:srgbClr>
            </a:gs>
            <a:gs pos="100000">
              <a:srgbClr val="D4D6C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795" y="3429036"/>
            <a:ext cx="2511218" cy="1714464"/>
            <a:chOff x="0" y="0"/>
            <a:chExt cx="661391" cy="4515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1391" cy="451546"/>
            </a:xfrm>
            <a:custGeom>
              <a:avLst/>
              <a:gdLst/>
              <a:ahLst/>
              <a:cxnLst/>
              <a:rect r="r" b="b" t="t" l="l"/>
              <a:pathLst>
                <a:path h="451546" w="661391">
                  <a:moveTo>
                    <a:pt x="157230" y="0"/>
                  </a:moveTo>
                  <a:lnTo>
                    <a:pt x="504161" y="0"/>
                  </a:lnTo>
                  <a:cubicBezTo>
                    <a:pt x="590997" y="0"/>
                    <a:pt x="661391" y="70394"/>
                    <a:pt x="661391" y="157230"/>
                  </a:cubicBezTo>
                  <a:lnTo>
                    <a:pt x="661391" y="294316"/>
                  </a:lnTo>
                  <a:cubicBezTo>
                    <a:pt x="661391" y="336016"/>
                    <a:pt x="644826" y="376008"/>
                    <a:pt x="615339" y="405494"/>
                  </a:cubicBezTo>
                  <a:cubicBezTo>
                    <a:pt x="585853" y="434981"/>
                    <a:pt x="545861" y="451546"/>
                    <a:pt x="504161" y="451546"/>
                  </a:cubicBezTo>
                  <a:lnTo>
                    <a:pt x="157230" y="451546"/>
                  </a:lnTo>
                  <a:cubicBezTo>
                    <a:pt x="115530" y="451546"/>
                    <a:pt x="75538" y="434981"/>
                    <a:pt x="46051" y="405494"/>
                  </a:cubicBezTo>
                  <a:cubicBezTo>
                    <a:pt x="16565" y="376008"/>
                    <a:pt x="0" y="336016"/>
                    <a:pt x="0" y="294316"/>
                  </a:cubicBezTo>
                  <a:lnTo>
                    <a:pt x="0" y="157230"/>
                  </a:lnTo>
                  <a:cubicBezTo>
                    <a:pt x="0" y="115530"/>
                    <a:pt x="16565" y="75538"/>
                    <a:pt x="46051" y="46051"/>
                  </a:cubicBezTo>
                  <a:cubicBezTo>
                    <a:pt x="75538" y="16565"/>
                    <a:pt x="115530" y="0"/>
                    <a:pt x="157230" y="0"/>
                  </a:cubicBezTo>
                  <a:close/>
                </a:path>
              </a:pathLst>
            </a:custGeom>
            <a:solidFill>
              <a:srgbClr val="826C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61391" cy="48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13070" y="3429036"/>
            <a:ext cx="2511218" cy="1714464"/>
            <a:chOff x="0" y="0"/>
            <a:chExt cx="661391" cy="4515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1391" cy="451546"/>
            </a:xfrm>
            <a:custGeom>
              <a:avLst/>
              <a:gdLst/>
              <a:ahLst/>
              <a:cxnLst/>
              <a:rect r="r" b="b" t="t" l="l"/>
              <a:pathLst>
                <a:path h="451546" w="661391">
                  <a:moveTo>
                    <a:pt x="157230" y="0"/>
                  </a:moveTo>
                  <a:lnTo>
                    <a:pt x="504161" y="0"/>
                  </a:lnTo>
                  <a:cubicBezTo>
                    <a:pt x="590997" y="0"/>
                    <a:pt x="661391" y="70394"/>
                    <a:pt x="661391" y="157230"/>
                  </a:cubicBezTo>
                  <a:lnTo>
                    <a:pt x="661391" y="294316"/>
                  </a:lnTo>
                  <a:cubicBezTo>
                    <a:pt x="661391" y="336016"/>
                    <a:pt x="644826" y="376008"/>
                    <a:pt x="615339" y="405494"/>
                  </a:cubicBezTo>
                  <a:cubicBezTo>
                    <a:pt x="585853" y="434981"/>
                    <a:pt x="545861" y="451546"/>
                    <a:pt x="504161" y="451546"/>
                  </a:cubicBezTo>
                  <a:lnTo>
                    <a:pt x="157230" y="451546"/>
                  </a:lnTo>
                  <a:cubicBezTo>
                    <a:pt x="115530" y="451546"/>
                    <a:pt x="75538" y="434981"/>
                    <a:pt x="46051" y="405494"/>
                  </a:cubicBezTo>
                  <a:cubicBezTo>
                    <a:pt x="16565" y="376008"/>
                    <a:pt x="0" y="336016"/>
                    <a:pt x="0" y="294316"/>
                  </a:cubicBezTo>
                  <a:lnTo>
                    <a:pt x="0" y="157230"/>
                  </a:lnTo>
                  <a:cubicBezTo>
                    <a:pt x="0" y="115530"/>
                    <a:pt x="16565" y="75538"/>
                    <a:pt x="46051" y="46051"/>
                  </a:cubicBezTo>
                  <a:cubicBezTo>
                    <a:pt x="75538" y="16565"/>
                    <a:pt x="115530" y="0"/>
                    <a:pt x="157230" y="0"/>
                  </a:cubicBezTo>
                  <a:close/>
                </a:path>
              </a:pathLst>
            </a:custGeom>
            <a:solidFill>
              <a:srgbClr val="826C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661391" cy="48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04777" y="3429036"/>
            <a:ext cx="2511218" cy="1714464"/>
            <a:chOff x="0" y="0"/>
            <a:chExt cx="661391" cy="4515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1391" cy="451546"/>
            </a:xfrm>
            <a:custGeom>
              <a:avLst/>
              <a:gdLst/>
              <a:ahLst/>
              <a:cxnLst/>
              <a:rect r="r" b="b" t="t" l="l"/>
              <a:pathLst>
                <a:path h="451546" w="661391">
                  <a:moveTo>
                    <a:pt x="157230" y="0"/>
                  </a:moveTo>
                  <a:lnTo>
                    <a:pt x="504161" y="0"/>
                  </a:lnTo>
                  <a:cubicBezTo>
                    <a:pt x="590997" y="0"/>
                    <a:pt x="661391" y="70394"/>
                    <a:pt x="661391" y="157230"/>
                  </a:cubicBezTo>
                  <a:lnTo>
                    <a:pt x="661391" y="294316"/>
                  </a:lnTo>
                  <a:cubicBezTo>
                    <a:pt x="661391" y="336016"/>
                    <a:pt x="644826" y="376008"/>
                    <a:pt x="615339" y="405494"/>
                  </a:cubicBezTo>
                  <a:cubicBezTo>
                    <a:pt x="585853" y="434981"/>
                    <a:pt x="545861" y="451546"/>
                    <a:pt x="504161" y="451546"/>
                  </a:cubicBezTo>
                  <a:lnTo>
                    <a:pt x="157230" y="451546"/>
                  </a:lnTo>
                  <a:cubicBezTo>
                    <a:pt x="115530" y="451546"/>
                    <a:pt x="75538" y="434981"/>
                    <a:pt x="46051" y="405494"/>
                  </a:cubicBezTo>
                  <a:cubicBezTo>
                    <a:pt x="16565" y="376008"/>
                    <a:pt x="0" y="336016"/>
                    <a:pt x="0" y="294316"/>
                  </a:cubicBezTo>
                  <a:lnTo>
                    <a:pt x="0" y="157230"/>
                  </a:lnTo>
                  <a:cubicBezTo>
                    <a:pt x="0" y="115530"/>
                    <a:pt x="16565" y="75538"/>
                    <a:pt x="46051" y="46051"/>
                  </a:cubicBezTo>
                  <a:cubicBezTo>
                    <a:pt x="75538" y="16565"/>
                    <a:pt x="115530" y="0"/>
                    <a:pt x="157230" y="0"/>
                  </a:cubicBezTo>
                  <a:close/>
                </a:path>
              </a:pathLst>
            </a:custGeom>
            <a:solidFill>
              <a:srgbClr val="826C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61391" cy="48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96484" y="3429036"/>
            <a:ext cx="2511218" cy="1714464"/>
            <a:chOff x="0" y="0"/>
            <a:chExt cx="661391" cy="451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1391" cy="451546"/>
            </a:xfrm>
            <a:custGeom>
              <a:avLst/>
              <a:gdLst/>
              <a:ahLst/>
              <a:cxnLst/>
              <a:rect r="r" b="b" t="t" l="l"/>
              <a:pathLst>
                <a:path h="451546" w="661391">
                  <a:moveTo>
                    <a:pt x="157230" y="0"/>
                  </a:moveTo>
                  <a:lnTo>
                    <a:pt x="504161" y="0"/>
                  </a:lnTo>
                  <a:cubicBezTo>
                    <a:pt x="590997" y="0"/>
                    <a:pt x="661391" y="70394"/>
                    <a:pt x="661391" y="157230"/>
                  </a:cubicBezTo>
                  <a:lnTo>
                    <a:pt x="661391" y="294316"/>
                  </a:lnTo>
                  <a:cubicBezTo>
                    <a:pt x="661391" y="336016"/>
                    <a:pt x="644826" y="376008"/>
                    <a:pt x="615339" y="405494"/>
                  </a:cubicBezTo>
                  <a:cubicBezTo>
                    <a:pt x="585853" y="434981"/>
                    <a:pt x="545861" y="451546"/>
                    <a:pt x="504161" y="451546"/>
                  </a:cubicBezTo>
                  <a:lnTo>
                    <a:pt x="157230" y="451546"/>
                  </a:lnTo>
                  <a:cubicBezTo>
                    <a:pt x="115530" y="451546"/>
                    <a:pt x="75538" y="434981"/>
                    <a:pt x="46051" y="405494"/>
                  </a:cubicBezTo>
                  <a:cubicBezTo>
                    <a:pt x="16565" y="376008"/>
                    <a:pt x="0" y="336016"/>
                    <a:pt x="0" y="294316"/>
                  </a:cubicBezTo>
                  <a:lnTo>
                    <a:pt x="0" y="157230"/>
                  </a:lnTo>
                  <a:cubicBezTo>
                    <a:pt x="0" y="115530"/>
                    <a:pt x="16565" y="75538"/>
                    <a:pt x="46051" y="46051"/>
                  </a:cubicBezTo>
                  <a:cubicBezTo>
                    <a:pt x="75538" y="16565"/>
                    <a:pt x="115530" y="0"/>
                    <a:pt x="157230" y="0"/>
                  </a:cubicBezTo>
                  <a:close/>
                </a:path>
              </a:pathLst>
            </a:custGeom>
            <a:solidFill>
              <a:srgbClr val="826C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61391" cy="48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89732" y="3724599"/>
            <a:ext cx="1123339" cy="112333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81439" y="3724599"/>
            <a:ext cx="1123339" cy="11233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73146" y="3724599"/>
            <a:ext cx="1123339" cy="112333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6645990"/>
            <a:ext cx="18391689" cy="6788821"/>
            <a:chOff x="0" y="0"/>
            <a:chExt cx="2849354" cy="10517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49354" cy="1051766"/>
            </a:xfrm>
            <a:custGeom>
              <a:avLst/>
              <a:gdLst/>
              <a:ahLst/>
              <a:cxnLst/>
              <a:rect r="r" b="b" t="t" l="l"/>
              <a:pathLst>
                <a:path h="1051766" w="2849354">
                  <a:moveTo>
                    <a:pt x="0" y="0"/>
                  </a:moveTo>
                  <a:lnTo>
                    <a:pt x="2849354" y="0"/>
                  </a:lnTo>
                  <a:lnTo>
                    <a:pt x="2849354" y="1051766"/>
                  </a:lnTo>
                  <a:lnTo>
                    <a:pt x="0" y="1051766"/>
                  </a:lnTo>
                  <a:close/>
                </a:path>
              </a:pathLst>
            </a:custGeom>
            <a:blipFill>
              <a:blip r:embed="rId2"/>
              <a:stretch>
                <a:fillRect l="-4671" t="-197376" r="-591" b="-129989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3854804" y="273107"/>
            <a:ext cx="3849409" cy="2260653"/>
          </a:xfrm>
          <a:custGeom>
            <a:avLst/>
            <a:gdLst/>
            <a:ahLst/>
            <a:cxnLst/>
            <a:rect r="r" b="b" t="t" l="l"/>
            <a:pathLst>
              <a:path h="2260653" w="3849409">
                <a:moveTo>
                  <a:pt x="0" y="0"/>
                </a:moveTo>
                <a:lnTo>
                  <a:pt x="3849409" y="0"/>
                </a:lnTo>
                <a:lnTo>
                  <a:pt x="3849409" y="2260652"/>
                </a:lnTo>
                <a:lnTo>
                  <a:pt x="0" y="22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59885" y="1016129"/>
            <a:ext cx="10583031" cy="907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1"/>
              </a:lnSpc>
            </a:pPr>
            <a:r>
              <a:rPr lang="en-US" sz="6871" spc="151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DATA BASE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31116" y="3867803"/>
            <a:ext cx="199457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clean the data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99965" y="3867803"/>
            <a:ext cx="199457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remove errors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90527" y="4067828"/>
            <a:ext cx="199457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organize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54804" y="3867803"/>
            <a:ext cx="199457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add financial information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E0C6">
                <a:alpha val="100000"/>
              </a:srgbClr>
            </a:gs>
            <a:gs pos="100000">
              <a:srgbClr val="D4D6C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7485" y="4203116"/>
            <a:ext cx="7748788" cy="94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b="true" sz="7022" spc="15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025331" y="0"/>
            <a:ext cx="7262669" cy="10287000"/>
            <a:chOff x="0" y="0"/>
            <a:chExt cx="4200000" cy="59489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00000" cy="5948970"/>
            </a:xfrm>
            <a:custGeom>
              <a:avLst/>
              <a:gdLst/>
              <a:ahLst/>
              <a:cxnLst/>
              <a:rect r="r" b="b" t="t" l="l"/>
              <a:pathLst>
                <a:path h="5948970" w="4200000">
                  <a:moveTo>
                    <a:pt x="0" y="0"/>
                  </a:moveTo>
                  <a:lnTo>
                    <a:pt x="4200000" y="0"/>
                  </a:lnTo>
                  <a:lnTo>
                    <a:pt x="4200000" y="5948970"/>
                  </a:lnTo>
                  <a:lnTo>
                    <a:pt x="0" y="5948970"/>
                  </a:lnTo>
                  <a:close/>
                </a:path>
              </a:pathLst>
            </a:custGeom>
            <a:blipFill>
              <a:blip r:embed="rId2"/>
              <a:stretch>
                <a:fillRect l="-56135" t="0" r="-56135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DAHGRN7ZNM8</dc:identifier>
  <dcterms:modified xsi:type="dcterms:W3CDTF">2011-08-01T06:04:30Z</dcterms:modified>
  <cp:revision>1</cp:revision>
  <dc:title>2026</dc:title>
</cp:coreProperties>
</file>